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BD4C6-9235-4636-89B8-F096A9620068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40FAE-D4AC-4035-BBBF-D4BAAB6359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1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040FAE-D4AC-4035-BBBF-D4BAAB6359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309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7.png"/><Relationship Id="rId4" Type="http://schemas.openxmlformats.org/officeDocument/2006/relationships/image" Target="../media/image28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0" y="0"/>
            <a:ext cx="2565400" cy="3022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350" y="0"/>
            <a:ext cx="2660650" cy="3117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850" y="2552700"/>
            <a:ext cx="1835150" cy="2590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600" y="2457450"/>
            <a:ext cx="1930400" cy="2686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40" y="1409700"/>
            <a:ext cx="105409" cy="1733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429760"/>
            <a:ext cx="9144000" cy="7035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500" y="1524000"/>
            <a:ext cx="483616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400" b="1" spc="-110">
                <a:solidFill>
                  <a:srgbClr val="FFFFFF"/>
                </a:solidFill>
                <a:latin typeface="Noto Serif"/>
              </a:rPr>
              <a:t>E-COMMERCE SALES &amp;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7540" y="1409700"/>
          <a:ext cx="105409" cy="1733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33550">
                <a:tc>
                  <a:txBody>
                    <a:bodyPr/>
                    <a:lstStyle/>
                    <a:p>
                      <a:pPr>
                        <a:lnSpc>
                          <a:spcPts val="13575"/>
                        </a:lnSpc>
                      </a:pPr>
                      <a:endParaRPr/>
                    </a:p>
                  </a:txBody>
                  <a:tcPr marL="0" marR="0" marT="0" marB="0">
                    <a:lnL w="4762" cap="flat" cmpd="sng" algn="ctr">
                      <a:solidFill>
                        <a:srgbClr val="333333">
                          <a:alpha val="100000"/>
                        </a:srgbClr>
                      </a:solidFill>
                    </a:lnL>
                    <a:lnR w="4762" cap="flat" cmpd="sng" algn="ctr">
                      <a:solidFill>
                        <a:srgbClr val="333333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333333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333333">
                          <a:alpha val="100000"/>
                        </a:srgbClr>
                      </a:solidFill>
                    </a:lnB>
                    <a:solidFill>
                      <a:srgbClr val="14B8A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52500" y="2057400"/>
            <a:ext cx="4869180" cy="431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400" b="1" spc="-169">
                <a:solidFill>
                  <a:srgbClr val="FFFFFF"/>
                </a:solidFill>
                <a:latin typeface="Noto Serif"/>
              </a:rPr>
              <a:t>CUSTOMER ANALYTICS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773680"/>
            <a:ext cx="347091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800" spc="-68">
                <a:solidFill>
                  <a:srgbClr val="5EEAD4"/>
                </a:solidFill>
                <a:latin typeface="Noto Serif"/>
              </a:rPr>
              <a:t>Power BI Dashboard Presentation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210560"/>
            <a:ext cx="509778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15">
                <a:solidFill>
                  <a:srgbClr val="94A3B8"/>
                </a:solidFill>
                <a:latin typeface="Noto Serif"/>
              </a:rPr>
              <a:t>Business Intelligence · Revenue · Profit · Customers · Marketing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80" y="4429760"/>
          <a:ext cx="9133840" cy="6908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3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0879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endParaRPr/>
                    </a:p>
                    <a:p>
                      <a:pPr marL="629920" algn="l">
                        <a:lnSpc>
                          <a:spcPts val="1200"/>
                        </a:lnSpc>
                      </a:pPr>
                      <a:r>
                        <a:rPr sz="1200" spc="-52">
                          <a:solidFill>
                            <a:srgbClr val="CBD5E1"/>
                          </a:solidFill>
                          <a:latin typeface="Noto Serif"/>
                        </a:rPr>
                        <a:t>Prepared for IBM Day / IBM Workshop </a:t>
                      </a:r>
                    </a:p>
                    <a:p>
                      <a:pPr marR="381000" algn="r">
                        <a:lnSpc>
                          <a:spcPts val="1200"/>
                        </a:lnSpc>
                      </a:pPr>
                      <a:r>
                        <a:rPr sz="1200" spc="-34">
                          <a:solidFill>
                            <a:srgbClr val="14B8A6"/>
                          </a:solidFill>
                          <a:latin typeface="Noto Serif"/>
                        </a:rPr>
                        <a:t>Simulated dataset </a:t>
                      </a:r>
                    </a:p>
                    <a:p>
                      <a:pPr marL="629920" algn="l">
                        <a:lnSpc>
                          <a:spcPts val="1100"/>
                        </a:lnSpc>
                      </a:pPr>
                      <a:r>
                        <a:rPr sz="1100" spc="-30">
                          <a:solidFill>
                            <a:srgbClr val="64748B"/>
                          </a:solidFill>
                          <a:latin typeface="Noto Serif"/>
                        </a:rPr>
                        <a:t>Assigned by: Shubham Pathak </a:t>
                      </a:r>
                    </a:p>
                  </a:txBody>
                  <a:tcPr marL="0" marR="0" marT="0" marB="0">
                    <a:lnL w="2540" cap="flat" cmpd="sng" algn="ctr">
                      <a:solidFill>
                        <a:srgbClr val="333333">
                          <a:alpha val="100000"/>
                        </a:srgbClr>
                      </a:solidFill>
                    </a:lnL>
                    <a:lnR w="2539" cap="flat" cmpd="sng" algn="ctr">
                      <a:solidFill>
                        <a:srgbClr val="333333">
                          <a:alpha val="100000"/>
                        </a:srgbClr>
                      </a:solidFill>
                    </a:lnR>
                    <a:lnT w="4762" cap="flat" cmpd="sng" algn="ctr">
                      <a:solidFill>
                        <a:srgbClr val="333333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333333">
                          <a:alpha val="100000"/>
                        </a:srgbClr>
                      </a:solidFill>
                    </a:lnB>
                    <a:solidFill>
                      <a:srgbClr val="11182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1181100"/>
            <a:ext cx="2749550" cy="1962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" y="1085850"/>
            <a:ext cx="2940050" cy="2152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1181100"/>
            <a:ext cx="2743200" cy="1962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50" y="1085850"/>
            <a:ext cx="2933700" cy="2152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1400" y="1181100"/>
            <a:ext cx="2749550" cy="1962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6150" y="1085850"/>
            <a:ext cx="2940050" cy="2152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600" y="3695700"/>
            <a:ext cx="1606550" cy="774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350" y="3600450"/>
            <a:ext cx="1797050" cy="965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9150" y="3695700"/>
            <a:ext cx="1606550" cy="774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3900" y="3600450"/>
            <a:ext cx="1797050" cy="965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5400" y="3695700"/>
            <a:ext cx="1606550" cy="774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0150" y="3600450"/>
            <a:ext cx="1797050" cy="965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8950" y="3695700"/>
            <a:ext cx="1606550" cy="774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3700" y="3600450"/>
            <a:ext cx="1797050" cy="965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8850" y="3695700"/>
            <a:ext cx="1606550" cy="774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3600" y="3600450"/>
            <a:ext cx="1797050" cy="965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1950" y="421640"/>
            <a:ext cx="21970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7">
                <a:solidFill>
                  <a:srgbClr val="14B8A6"/>
                </a:solidFill>
                <a:latin typeface="Noto Serif"/>
              </a:rPr>
              <a:t>01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373380"/>
            <a:ext cx="351917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61">
                <a:solidFill>
                  <a:srgbClr val="FFFFFF"/>
                </a:solidFill>
                <a:latin typeface="Noto Serif"/>
              </a:rPr>
              <a:t>About Microsoft Power BI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950" y="762000"/>
            <a:ext cx="476885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3">
                <a:solidFill>
                  <a:srgbClr val="94A3B8"/>
                </a:solidFill>
                <a:latin typeface="Noto Serif"/>
              </a:rPr>
              <a:t>The platform used to build this business intelligence dashboard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1422400"/>
            <a:ext cx="158496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58">
                <a:solidFill>
                  <a:srgbClr val="5EEAD4"/>
                </a:solidFill>
                <a:latin typeface="Noto Serif"/>
              </a:rPr>
              <a:t>W hat is Power BI?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7100" y="1422400"/>
            <a:ext cx="102488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7">
                <a:solidFill>
                  <a:srgbClr val="5EEAD4"/>
                </a:solidFill>
                <a:latin typeface="Noto Serif"/>
              </a:rPr>
              <a:t>W hy use it?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2540" y="1422400"/>
            <a:ext cx="110743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35">
                <a:solidFill>
                  <a:srgbClr val="5EEAD4"/>
                </a:solidFill>
                <a:latin typeface="Noto Serif"/>
              </a:rPr>
              <a:t>How it helps 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61950" y="1181100"/>
          <a:ext cx="45720" cy="1968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0">
                <a:tc>
                  <a:txBody>
                    <a:bodyPr/>
                    <a:lstStyle/>
                    <a:p>
                      <a:pPr>
                        <a:lnSpc>
                          <a:spcPts val="15450"/>
                        </a:lnSpc>
                      </a:pPr>
                      <a:endParaRPr/>
                    </a:p>
                  </a:txBody>
                  <a:tcPr marL="0" marR="0" marT="0" marB="0">
                    <a:lnL w="4762" cap="flat" cmpd="sng" algn="ctr">
                      <a:solidFill>
                        <a:srgbClr val="333333">
                          <a:alpha val="100000"/>
                        </a:srgbClr>
                      </a:solidFill>
                    </a:lnL>
                    <a:lnR w="16827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1950" y="3390900"/>
            <a:ext cx="135763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66">
                <a:solidFill>
                  <a:srgbClr val="FFFFFF"/>
                </a:solidFill>
                <a:latin typeface="Noto Serif"/>
              </a:rPr>
              <a:t>Typical workflow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550" y="2189480"/>
            <a:ext cx="204723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8">
                <a:solidFill>
                  <a:srgbClr val="CBD5E1"/>
                </a:solidFill>
                <a:latin typeface="Noto Serif"/>
              </a:rPr>
              <a:t>data, prepare it, analyse it and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2379980"/>
            <a:ext cx="16814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4">
                <a:solidFill>
                  <a:srgbClr val="CBD5E1"/>
                </a:solidFill>
                <a:latin typeface="Noto Serif"/>
              </a:rPr>
              <a:t>present insights through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50" y="2570480"/>
            <a:ext cx="13296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9">
                <a:solidFill>
                  <a:srgbClr val="CBD5E1"/>
                </a:solidFill>
                <a:latin typeface="Noto Serif"/>
              </a:rPr>
              <a:t>interactive reports.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050" y="4157979"/>
            <a:ext cx="76581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2">
                <a:solidFill>
                  <a:srgbClr val="CBD5E1"/>
                </a:solidFill>
                <a:latin typeface="Noto Serif"/>
              </a:rPr>
              <a:t>Import data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" y="3798570"/>
            <a:ext cx="1143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b="1" spc="-206">
                <a:solidFill>
                  <a:srgbClr val="14B8A6"/>
                </a:solidFill>
                <a:latin typeface="Noto Serif"/>
              </a:rPr>
              <a:t>1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13940" y="4157979"/>
            <a:ext cx="115062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9">
                <a:solidFill>
                  <a:srgbClr val="CBD5E1"/>
                </a:solidFill>
                <a:latin typeface="Noto Serif"/>
              </a:rPr>
              <a:t>Clean &amp; transform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8450" y="3798570"/>
            <a:ext cx="1143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b="1" spc="-206">
                <a:solidFill>
                  <a:srgbClr val="14B8A6"/>
                </a:solidFill>
                <a:latin typeface="Noto Serif"/>
              </a:rPr>
              <a:t>2 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238500" y="1181100"/>
          <a:ext cx="45720" cy="1968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0">
                <a:tc>
                  <a:txBody>
                    <a:bodyPr/>
                    <a:lstStyle/>
                    <a:p>
                      <a:pPr>
                        <a:lnSpc>
                          <a:spcPts val="15450"/>
                        </a:lnSpc>
                      </a:pPr>
                      <a:endParaRPr/>
                    </a:p>
                  </a:txBody>
                  <a:tcPr marL="0" marR="0" marT="0" marB="0">
                    <a:lnL w="4762" cap="flat" cmpd="sng" algn="ctr">
                      <a:solidFill>
                        <a:srgbClr val="333333">
                          <a:alpha val="100000"/>
                        </a:srgbClr>
                      </a:solidFill>
                    </a:lnL>
                    <a:lnR w="16509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3467100" y="2189480"/>
            <a:ext cx="164083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9">
                <a:solidFill>
                  <a:srgbClr val="CBD5E1"/>
                </a:solidFill>
                <a:latin typeface="Noto Serif"/>
              </a:rPr>
              <a:t>so decision-makers can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7100" y="2379980"/>
            <a:ext cx="145033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8">
                <a:solidFill>
                  <a:srgbClr val="CBD5E1"/>
                </a:solidFill>
                <a:latin typeface="Noto Serif"/>
              </a:rPr>
              <a:t>understand business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67100" y="2570480"/>
            <a:ext cx="14795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6">
                <a:solidFill>
                  <a:srgbClr val="CBD5E1"/>
                </a:solidFill>
                <a:latin typeface="Noto Serif"/>
              </a:rPr>
              <a:t>performance quickly.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43350" y="4157979"/>
            <a:ext cx="139446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31">
                <a:solidFill>
                  <a:srgbClr val="CBD5E1"/>
                </a:solidFill>
                <a:latin typeface="Noto Serif"/>
              </a:rPr>
              <a:t>Create DAX measures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798570"/>
            <a:ext cx="1143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b="1" spc="-206">
                <a:solidFill>
                  <a:srgbClr val="14B8A6"/>
                </a:solidFill>
                <a:latin typeface="Noto Serif"/>
              </a:rPr>
              <a:t>3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1700" y="4157979"/>
            <a:ext cx="77597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64">
                <a:solidFill>
                  <a:srgbClr val="CBD5E1"/>
                </a:solidFill>
                <a:latin typeface="Noto Serif"/>
              </a:rPr>
              <a:t>Build visuals 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123940" y="1181100"/>
          <a:ext cx="46989" cy="1968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2150">
                <a:tc>
                  <a:txBody>
                    <a:bodyPr/>
                    <a:lstStyle/>
                    <a:p>
                      <a:pPr>
                        <a:lnSpc>
                          <a:spcPts val="15450"/>
                        </a:lnSpc>
                      </a:pPr>
                      <a:endParaRPr/>
                    </a:p>
                  </a:txBody>
                  <a:tcPr marL="0" marR="0" marT="0" marB="0">
                    <a:lnL w="4762" cap="flat" cmpd="sng" algn="ctr">
                      <a:solidFill>
                        <a:srgbClr val="333333">
                          <a:alpha val="100000"/>
                        </a:srgbClr>
                      </a:solidFill>
                    </a:lnL>
                    <a:lnR w="16827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305550" y="3798570"/>
            <a:ext cx="1143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b="1" spc="-206">
                <a:solidFill>
                  <a:srgbClr val="14B8A6"/>
                </a:solidFill>
                <a:latin typeface="Noto Serif"/>
              </a:rPr>
              <a:t>4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2540" y="2189480"/>
            <a:ext cx="20116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0">
                <a:solidFill>
                  <a:srgbClr val="CBD5E1"/>
                </a:solidFill>
                <a:latin typeface="Noto Serif"/>
              </a:rPr>
              <a:t>and explore how the selected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2540" y="2379980"/>
            <a:ext cx="20447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6">
                <a:solidFill>
                  <a:srgbClr val="CBD5E1"/>
                </a:solidFill>
                <a:latin typeface="Noto Serif"/>
              </a:rPr>
              <a:t>data affects business results.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3959" y="4157979"/>
            <a:ext cx="110744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38">
                <a:solidFill>
                  <a:srgbClr val="CBD5E1"/>
                </a:solidFill>
                <a:latin typeface="Noto Serif"/>
              </a:rPr>
              <a:t>Interpret insights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8150" y="3798570"/>
            <a:ext cx="114300" cy="203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600" b="1" spc="-206">
                <a:solidFill>
                  <a:srgbClr val="14B8A6"/>
                </a:solidFill>
                <a:latin typeface="Noto Serif"/>
              </a:rPr>
              <a:t>5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0600" y="4908550"/>
            <a:ext cx="15494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3">
                <a:solidFill>
                  <a:srgbClr val="64748B"/>
                </a:solidFill>
                <a:latin typeface="Noto Serif"/>
              </a:rPr>
              <a:t>02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550" y="1808480"/>
            <a:ext cx="18910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3">
                <a:solidFill>
                  <a:srgbClr val="CBD5E1"/>
                </a:solidFill>
                <a:latin typeface="Noto Serif"/>
              </a:rPr>
              <a:t>A business intelligence tool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7100" y="1808480"/>
            <a:ext cx="207263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3">
                <a:solidFill>
                  <a:srgbClr val="CBD5E1"/>
                </a:solidFill>
                <a:latin typeface="Noto Serif"/>
              </a:rPr>
              <a:t>It turns rows of data into KPIs,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2540" y="1808480"/>
            <a:ext cx="21056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5">
                <a:solidFill>
                  <a:srgbClr val="CBD5E1"/>
                </a:solidFill>
                <a:latin typeface="Noto Serif"/>
              </a:rPr>
              <a:t>Users can filter by date, region,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550" y="1998980"/>
            <a:ext cx="21767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3">
                <a:solidFill>
                  <a:srgbClr val="CBD5E1"/>
                </a:solidFill>
                <a:latin typeface="Noto Serif"/>
              </a:rPr>
              <a:t>from Microsoft used to connect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67100" y="1998980"/>
            <a:ext cx="21082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2">
                <a:solidFill>
                  <a:srgbClr val="CBD5E1"/>
                </a:solidFill>
                <a:latin typeface="Noto Serif"/>
              </a:rPr>
              <a:t>charts, slicers and dashboards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2540" y="1998980"/>
            <a:ext cx="207263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3">
                <a:solidFill>
                  <a:srgbClr val="CBD5E1"/>
                </a:solidFill>
                <a:latin typeface="Noto Serif"/>
              </a:rPr>
              <a:t>product category or campaign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91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" y="1143000"/>
            <a:ext cx="5035550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" y="1047750"/>
            <a:ext cx="5226050" cy="1466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" y="2552700"/>
            <a:ext cx="5035550" cy="1276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" y="2457450"/>
            <a:ext cx="5226050" cy="1466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3400" y="1143000"/>
            <a:ext cx="3162300" cy="3238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8150" y="1047750"/>
            <a:ext cx="33528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" y="421640"/>
            <a:ext cx="21970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7" dirty="0">
                <a:solidFill>
                  <a:srgbClr val="14B8A6"/>
                </a:solidFill>
                <a:latin typeface="Noto Serif"/>
              </a:rPr>
              <a:t>02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3380"/>
            <a:ext cx="3573779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57">
                <a:solidFill>
                  <a:srgbClr val="FFFFFF"/>
                </a:solidFill>
                <a:latin typeface="Noto Serif"/>
              </a:rPr>
              <a:t>Dataset &amp; project purpose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" y="762000"/>
            <a:ext cx="532892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26">
                <a:solidFill>
                  <a:srgbClr val="94A3B8"/>
                </a:solidFill>
                <a:latin typeface="Noto Serif"/>
              </a:rPr>
              <a:t>A practical business scenario for demonstrating e-commerce analytics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19750" y="1163320"/>
          <a:ext cx="3153409" cy="454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3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02">
                <a:tc>
                  <a:txBody>
                    <a:bodyPr/>
                    <a:lstStyle/>
                    <a:p>
                      <a:pPr>
                        <a:lnSpc>
                          <a:spcPts val="285"/>
                        </a:lnSpc>
                      </a:pPr>
                      <a:endParaRPr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4762" cap="flat" cmpd="sng" algn="ctr">
                      <a:solidFill>
                        <a:srgbClr val="333333">
                          <a:alpha val="100000"/>
                        </a:srgbClr>
                      </a:solidFill>
                    </a:lnT>
                    <a:lnB w="4762" cap="flat" cmpd="sng" algn="ctr">
                      <a:solidFill>
                        <a:srgbClr val="333333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0550" y="1395730"/>
            <a:ext cx="224155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spc="-39">
                <a:solidFill>
                  <a:srgbClr val="5EEAD4"/>
                </a:solidFill>
                <a:latin typeface="Noto Serif"/>
              </a:rPr>
              <a:t>W hy e-commerce data?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8350" y="1488440"/>
            <a:ext cx="1329690" cy="1777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51">
                <a:solidFill>
                  <a:srgbClr val="F59E0B"/>
                </a:solidFill>
                <a:latin typeface="Noto Serif"/>
              </a:rPr>
              <a:t>Important note 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2814320"/>
            <a:ext cx="230378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spc="-26">
                <a:solidFill>
                  <a:srgbClr val="5EEAD4"/>
                </a:solidFill>
                <a:latin typeface="Noto Serif"/>
              </a:rPr>
              <a:t>W hat the dataset shows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3219450"/>
            <a:ext cx="410464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59">
                <a:solidFill>
                  <a:srgbClr val="CBD5E1"/>
                </a:solidFill>
                <a:latin typeface="Noto Serif"/>
              </a:rPr>
              <a:t>Revenue, profit, order volume, customer groups, returns,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3429000"/>
            <a:ext cx="376047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40">
                <a:solidFill>
                  <a:srgbClr val="CBD5E1"/>
                </a:solidFill>
                <a:latin typeface="Noto Serif"/>
              </a:rPr>
              <a:t>regional contribution and campaign performance.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8350" y="2581910"/>
            <a:ext cx="75184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52">
                <a:solidFill>
                  <a:srgbClr val="CBD5E1"/>
                </a:solidFill>
                <a:latin typeface="Noto Serif"/>
              </a:rPr>
              <a:t>company.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8350" y="3001010"/>
            <a:ext cx="192659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1">
                <a:solidFill>
                  <a:srgbClr val="CBD5E1"/>
                </a:solidFill>
                <a:latin typeface="Noto Serif"/>
              </a:rPr>
              <a:t>Currency is not specified.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8350" y="3295650"/>
            <a:ext cx="364489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101">
                <a:solidFill>
                  <a:srgbClr val="5EEAD4"/>
                </a:solidFill>
                <a:latin typeface="Noto Serif"/>
              </a:rPr>
              <a:t>Goal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8350" y="3618229"/>
            <a:ext cx="221995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6">
                <a:solidFill>
                  <a:srgbClr val="CBD5E1"/>
                </a:solidFill>
                <a:latin typeface="Noto Serif"/>
              </a:rPr>
              <a:t>Turn data into clear insights that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8350" y="3808729"/>
            <a:ext cx="23444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5">
                <a:solidFill>
                  <a:srgbClr val="CBD5E1"/>
                </a:solidFill>
                <a:latin typeface="Noto Serif"/>
              </a:rPr>
              <a:t>support decisions about products,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8350" y="3999229"/>
            <a:ext cx="24396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7">
                <a:solidFill>
                  <a:srgbClr val="CBD5E1"/>
                </a:solidFill>
                <a:latin typeface="Noto Serif"/>
              </a:rPr>
              <a:t>customers, regions and marketing.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600" y="4908550"/>
            <a:ext cx="15367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6">
                <a:solidFill>
                  <a:srgbClr val="64748B"/>
                </a:solidFill>
                <a:latin typeface="Noto Serif"/>
              </a:rPr>
              <a:t>03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550" y="1695450"/>
            <a:ext cx="438150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47">
                <a:solidFill>
                  <a:srgbClr val="CBD5E1"/>
                </a:solidFill>
                <a:latin typeface="Noto Serif"/>
              </a:rPr>
              <a:t>Online retail combines orders, products, customers, regions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1905000"/>
            <a:ext cx="373126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56">
                <a:solidFill>
                  <a:srgbClr val="CBD5E1"/>
                </a:solidFill>
                <a:latin typeface="Noto Serif"/>
              </a:rPr>
              <a:t>and marketing—useful for answering real business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8350" y="1953260"/>
            <a:ext cx="226060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3" dirty="0">
                <a:solidFill>
                  <a:srgbClr val="CBD5E1"/>
                </a:solidFill>
                <a:latin typeface="Noto Serif"/>
              </a:rPr>
              <a:t>This is a simulated dataset for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2114550"/>
            <a:ext cx="78740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8">
                <a:solidFill>
                  <a:srgbClr val="CBD5E1"/>
                </a:solidFill>
                <a:latin typeface="Noto Serif"/>
              </a:rPr>
              <a:t>questions.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8350" y="2162810"/>
            <a:ext cx="257937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46">
                <a:solidFill>
                  <a:srgbClr val="CBD5E1"/>
                </a:solidFill>
                <a:latin typeface="Noto Serif"/>
              </a:rPr>
              <a:t>analysis and presentation practice,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8350" y="2372360"/>
            <a:ext cx="2284729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58">
                <a:solidFill>
                  <a:srgbClr val="CBD5E1"/>
                </a:solidFill>
                <a:latin typeface="Noto Serif"/>
              </a:rPr>
              <a:t>not verified records from a real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1" y="-150668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99" y="2051049"/>
            <a:ext cx="4001771" cy="2552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292" y="2051049"/>
            <a:ext cx="4121150" cy="2552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950" y="421640"/>
            <a:ext cx="21844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70">
                <a:solidFill>
                  <a:srgbClr val="14B8A6"/>
                </a:solidFill>
                <a:latin typeface="Noto Serif"/>
              </a:rPr>
              <a:t>03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73380"/>
            <a:ext cx="332105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71">
                <a:solidFill>
                  <a:srgbClr val="FFFFFF"/>
                </a:solidFill>
                <a:latin typeface="Noto Serif"/>
              </a:rPr>
              <a:t>KPIs — Revenue &amp; Profit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762000"/>
            <a:ext cx="420624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3">
                <a:solidFill>
                  <a:srgbClr val="94A3B8"/>
                </a:solidFill>
                <a:latin typeface="Noto Serif"/>
              </a:rPr>
              <a:t>What the two core financial indicators tell management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0712" y="4772027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 dirty="0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40" y="2585720"/>
            <a:ext cx="808990" cy="406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200" b="1" spc="-272">
                <a:solidFill>
                  <a:srgbClr val="5EEAD4"/>
                </a:solidFill>
                <a:latin typeface="Noto Serif"/>
              </a:rPr>
              <a:t>25M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40" y="3076575"/>
            <a:ext cx="59816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48" dirty="0">
                <a:solidFill>
                  <a:srgbClr val="14B8A6"/>
                </a:solidFill>
                <a:latin typeface="Noto Serif"/>
              </a:rPr>
              <a:t>Meaning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40" y="3309676"/>
            <a:ext cx="32156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2" dirty="0">
                <a:solidFill>
                  <a:srgbClr val="CBD5E1"/>
                </a:solidFill>
                <a:latin typeface="Noto Serif"/>
              </a:rPr>
              <a:t>Total sales value generated by the orders in the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40" y="3500176"/>
            <a:ext cx="5689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8" dirty="0">
                <a:solidFill>
                  <a:srgbClr val="CBD5E1"/>
                </a:solidFill>
                <a:latin typeface="Noto Serif"/>
              </a:rPr>
              <a:t>dataset.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202" y="3694429"/>
            <a:ext cx="55752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57" dirty="0" smtClean="0">
                <a:solidFill>
                  <a:srgbClr val="14B8A6"/>
                </a:solidFill>
                <a:latin typeface="Noto Serif"/>
              </a:rPr>
              <a:t>Purpose </a:t>
            </a:r>
            <a:endParaRPr sz="1100" b="1" spc="-57" dirty="0">
              <a:solidFill>
                <a:srgbClr val="14B8A6"/>
              </a:solidFill>
              <a:latin typeface="Noto Serif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8202" y="3842384"/>
            <a:ext cx="28308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5" dirty="0">
                <a:solidFill>
                  <a:srgbClr val="CBD5E1"/>
                </a:solidFill>
                <a:latin typeface="Noto Serif"/>
              </a:rPr>
              <a:t>Measures sales scale and helps compare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4" y="4032884"/>
            <a:ext cx="34620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1" dirty="0">
                <a:solidFill>
                  <a:srgbClr val="CBD5E1"/>
                </a:solidFill>
                <a:latin typeface="Noto Serif"/>
              </a:rPr>
              <a:t>performance across dates, regions, categories and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540" y="4255770"/>
            <a:ext cx="80391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0" dirty="0">
                <a:solidFill>
                  <a:srgbClr val="CBD5E1"/>
                </a:solidFill>
                <a:latin typeface="Noto Serif"/>
              </a:rPr>
              <a:t>campaigns.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3950" y="2585720"/>
            <a:ext cx="1155700" cy="406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200" b="1" spc="-181">
                <a:solidFill>
                  <a:srgbClr val="5EEAD4"/>
                </a:solidFill>
                <a:latin typeface="Noto Serif"/>
              </a:rPr>
              <a:t>7.76M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3950" y="3158490"/>
            <a:ext cx="59690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49">
                <a:solidFill>
                  <a:srgbClr val="14B8A6"/>
                </a:solidFill>
                <a:latin typeface="Noto Serif"/>
              </a:rPr>
              <a:t>Meaning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3950" y="3351529"/>
            <a:ext cx="331850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0">
                <a:solidFill>
                  <a:srgbClr val="CBD5E1"/>
                </a:solidFill>
                <a:latin typeface="Noto Serif"/>
              </a:rPr>
              <a:t>Profit recorded after the costs represented in the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3950" y="3542029"/>
            <a:ext cx="5689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8">
                <a:solidFill>
                  <a:srgbClr val="CBD5E1"/>
                </a:solidFill>
                <a:latin typeface="Noto Serif"/>
              </a:rPr>
              <a:t>dataset.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3950" y="3796029"/>
            <a:ext cx="55626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59">
                <a:solidFill>
                  <a:srgbClr val="14B8A6"/>
                </a:solidFill>
                <a:latin typeface="Noto Serif"/>
              </a:rPr>
              <a:t>Purpose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3950" y="3970020"/>
            <a:ext cx="33172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1">
                <a:solidFill>
                  <a:srgbClr val="CBD5E1"/>
                </a:solidFill>
                <a:latin typeface="Noto Serif"/>
              </a:rPr>
              <a:t>Shows how much value the business retains and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3950" y="4160520"/>
            <a:ext cx="33350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8">
                <a:solidFill>
                  <a:srgbClr val="CBD5E1"/>
                </a:solidFill>
                <a:latin typeface="Noto Serif"/>
              </a:rPr>
              <a:t>helps identify profitable categories and periods.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1550" y="4908550"/>
            <a:ext cx="15494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3">
                <a:solidFill>
                  <a:srgbClr val="64748B"/>
                </a:solidFill>
                <a:latin typeface="Noto Serif"/>
              </a:rPr>
              <a:t>04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540" y="2255520"/>
            <a:ext cx="12179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80">
                <a:solidFill>
                  <a:srgbClr val="94A3B8"/>
                </a:solidFill>
                <a:latin typeface="Noto Serif"/>
              </a:rPr>
              <a:t>TOTAL REVENUE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3950" y="2255520"/>
            <a:ext cx="10629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79">
                <a:solidFill>
                  <a:srgbClr val="94A3B8"/>
                </a:solidFill>
                <a:latin typeface="Noto Serif"/>
              </a:rPr>
              <a:t>TOTAL PROFIT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1092200"/>
            <a:ext cx="8413750" cy="774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2051050"/>
            <a:ext cx="4121150" cy="25729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941" y="2051049"/>
            <a:ext cx="4121150" cy="25729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950" y="421640"/>
            <a:ext cx="22097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4">
                <a:solidFill>
                  <a:srgbClr val="14B8A6"/>
                </a:solidFill>
                <a:latin typeface="Noto Serif"/>
              </a:rPr>
              <a:t>04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73380"/>
            <a:ext cx="415544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65">
                <a:solidFill>
                  <a:srgbClr val="FFFFFF"/>
                </a:solidFill>
                <a:latin typeface="Noto Serif"/>
              </a:rPr>
              <a:t>KPIs — Profit Margin &amp; Orders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762000"/>
            <a:ext cx="256794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41">
                <a:solidFill>
                  <a:srgbClr val="94A3B8"/>
                </a:solidFill>
                <a:latin typeface="Noto Serif"/>
              </a:rPr>
              <a:t>Efficiency and transaction volume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40" y="2547619"/>
            <a:ext cx="1169670" cy="406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200" b="1" spc="-138" dirty="0">
                <a:solidFill>
                  <a:srgbClr val="22D3EE"/>
                </a:solidFill>
                <a:latin typeface="Noto Serif"/>
              </a:rPr>
              <a:t>30.8%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" y="3098799"/>
            <a:ext cx="59816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48" dirty="0">
                <a:solidFill>
                  <a:srgbClr val="14B8A6"/>
                </a:solidFill>
                <a:latin typeface="Noto Serif"/>
              </a:rPr>
              <a:t>Meaning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917" y="3395055"/>
            <a:ext cx="23647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4" dirty="0">
                <a:solidFill>
                  <a:srgbClr val="CBD5E1"/>
                </a:solidFill>
                <a:latin typeface="Noto Serif"/>
              </a:rPr>
              <a:t>Total Profit ÷ Total Revenue × 100.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472" y="3600449"/>
            <a:ext cx="55752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57" dirty="0">
                <a:solidFill>
                  <a:srgbClr val="14B8A6"/>
                </a:solidFill>
                <a:latin typeface="Noto Serif"/>
              </a:rPr>
              <a:t>Purpose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540" y="3812077"/>
            <a:ext cx="32664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3" dirty="0">
                <a:solidFill>
                  <a:srgbClr val="CBD5E1"/>
                </a:solidFill>
                <a:latin typeface="Noto Serif"/>
              </a:rPr>
              <a:t>Shows the share of revenue retained as profit. A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540" y="4023301"/>
            <a:ext cx="32537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57" dirty="0">
                <a:solidFill>
                  <a:srgbClr val="CBD5E1"/>
                </a:solidFill>
                <a:latin typeface="Noto Serif"/>
              </a:rPr>
              <a:t>higher margin can indicate stronger profitability,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540" y="4248147"/>
            <a:ext cx="20751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2" dirty="0">
                <a:solidFill>
                  <a:srgbClr val="CBD5E1"/>
                </a:solidFill>
                <a:latin typeface="Noto Serif"/>
              </a:rPr>
              <a:t>subject to accurate cost data.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3950" y="2555383"/>
            <a:ext cx="977900" cy="406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200" b="1" spc="-205" dirty="0">
                <a:solidFill>
                  <a:srgbClr val="22D3EE"/>
                </a:solidFill>
                <a:latin typeface="Noto Serif"/>
              </a:rPr>
              <a:t>1,500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3000" y="3097529"/>
            <a:ext cx="59690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49" dirty="0">
                <a:solidFill>
                  <a:srgbClr val="14B8A6"/>
                </a:solidFill>
                <a:latin typeface="Noto Serif"/>
              </a:rPr>
              <a:t>Meaning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5149" y="3384692"/>
            <a:ext cx="26936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1" dirty="0">
                <a:solidFill>
                  <a:srgbClr val="CBD5E1"/>
                </a:solidFill>
                <a:latin typeface="Noto Serif"/>
              </a:rPr>
              <a:t>Distinct orders counted in the dataset.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5149" y="3597851"/>
            <a:ext cx="55626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59" dirty="0">
                <a:solidFill>
                  <a:srgbClr val="14B8A6"/>
                </a:solidFill>
                <a:latin typeface="Noto Serif"/>
              </a:rPr>
              <a:t>Purpose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3950" y="3811615"/>
            <a:ext cx="333755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8" dirty="0">
                <a:solidFill>
                  <a:srgbClr val="CBD5E1"/>
                </a:solidFill>
                <a:latin typeface="Noto Serif"/>
              </a:rPr>
              <a:t>Indicates transaction volume. Used with revenue,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3950" y="4023301"/>
            <a:ext cx="31000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4" dirty="0">
                <a:solidFill>
                  <a:srgbClr val="CBD5E1"/>
                </a:solidFill>
                <a:latin typeface="Noto Serif"/>
              </a:rPr>
              <a:t>it can help assess changes in order value and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3950" y="4234987"/>
            <a:ext cx="6159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58" dirty="0">
                <a:solidFill>
                  <a:srgbClr val="CBD5E1"/>
                </a:solidFill>
                <a:latin typeface="Noto Serif"/>
              </a:rPr>
              <a:t>demand.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600" y="4908550"/>
            <a:ext cx="15494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3">
                <a:solidFill>
                  <a:srgbClr val="64748B"/>
                </a:solidFill>
                <a:latin typeface="Noto Serif"/>
              </a:rPr>
              <a:t>05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540" y="2255520"/>
            <a:ext cx="12115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65">
                <a:solidFill>
                  <a:srgbClr val="94A3B8"/>
                </a:solidFill>
                <a:latin typeface="Noto Serif"/>
              </a:rPr>
              <a:t>PROFIT MARGIN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3950" y="2255520"/>
            <a:ext cx="11303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75">
                <a:solidFill>
                  <a:srgbClr val="94A3B8"/>
                </a:solidFill>
                <a:latin typeface="Noto Serif"/>
              </a:rPr>
              <a:t>TOTAL ORDERS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1092200"/>
            <a:ext cx="8413750" cy="774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2" y="31173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2051050"/>
            <a:ext cx="4121150" cy="259368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550" y="2051050"/>
            <a:ext cx="4121150" cy="25936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950" y="421640"/>
            <a:ext cx="22097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4">
                <a:solidFill>
                  <a:srgbClr val="14B8A6"/>
                </a:solidFill>
                <a:latin typeface="Noto Serif"/>
              </a:rPr>
              <a:t>05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73380"/>
            <a:ext cx="394970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54">
                <a:solidFill>
                  <a:srgbClr val="FFFFFF"/>
                </a:solidFill>
                <a:latin typeface="Noto Serif"/>
              </a:rPr>
              <a:t>KPIs — Customers &amp; Returns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" y="762000"/>
            <a:ext cx="348869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17">
                <a:solidFill>
                  <a:srgbClr val="94A3B8"/>
                </a:solidFill>
                <a:latin typeface="Noto Serif"/>
              </a:rPr>
              <a:t>Customer reach and post-purchase outcomes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 dirty="0"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52" y="2472690"/>
            <a:ext cx="717550" cy="406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200" b="1" spc="-138" dirty="0">
                <a:solidFill>
                  <a:srgbClr val="F59E0B"/>
                </a:solidFill>
                <a:latin typeface="Noto Serif"/>
              </a:rPr>
              <a:t>391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40" y="3002279"/>
            <a:ext cx="59816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48" dirty="0">
                <a:solidFill>
                  <a:srgbClr val="14B8A6"/>
                </a:solidFill>
                <a:latin typeface="Noto Serif"/>
              </a:rPr>
              <a:t>Meaning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40" y="3265631"/>
            <a:ext cx="32626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7" dirty="0">
                <a:solidFill>
                  <a:srgbClr val="CBD5E1"/>
                </a:solidFill>
                <a:latin typeface="Noto Serif"/>
              </a:rPr>
              <a:t>Distinct customers represented in the dataset.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1" y="3585876"/>
            <a:ext cx="55752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57" dirty="0">
                <a:solidFill>
                  <a:srgbClr val="14B8A6"/>
                </a:solidFill>
                <a:latin typeface="Noto Serif"/>
              </a:rPr>
              <a:t>Purpose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" y="3814418"/>
            <a:ext cx="32258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5" dirty="0">
                <a:solidFill>
                  <a:srgbClr val="CBD5E1"/>
                </a:solidFill>
                <a:latin typeface="Noto Serif"/>
              </a:rPr>
              <a:t>Helps assess customer reach. Pair it with order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572" y="4026966"/>
            <a:ext cx="27012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5" dirty="0">
                <a:solidFill>
                  <a:srgbClr val="CBD5E1"/>
                </a:solidFill>
                <a:latin typeface="Noto Serif"/>
              </a:rPr>
              <a:t>count and revenue to investigate repeat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572" y="4202539"/>
            <a:ext cx="241553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spc="-37" dirty="0">
                <a:solidFill>
                  <a:srgbClr val="CBD5E1"/>
                </a:solidFill>
                <a:latin typeface="Noto Serif"/>
              </a:rPr>
              <a:t>purchasing and customer value.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3950" y="2585720"/>
            <a:ext cx="627379" cy="406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3200" b="1" spc="-315">
                <a:solidFill>
                  <a:srgbClr val="FB7185"/>
                </a:solidFill>
                <a:latin typeface="Noto Serif"/>
              </a:rPr>
              <a:t>183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3950" y="3158490"/>
            <a:ext cx="59690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49">
                <a:solidFill>
                  <a:srgbClr val="14B8A6"/>
                </a:solidFill>
                <a:latin typeface="Noto Serif"/>
              </a:rPr>
              <a:t>Meaning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3950" y="3446779"/>
            <a:ext cx="19240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2">
                <a:solidFill>
                  <a:srgbClr val="CBD5E1"/>
                </a:solidFill>
                <a:latin typeface="Noto Serif"/>
              </a:rPr>
              <a:t>Orders marked as returned.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4270" y="3678614"/>
            <a:ext cx="55626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-59" dirty="0">
                <a:solidFill>
                  <a:srgbClr val="14B8A6"/>
                </a:solidFill>
                <a:latin typeface="Noto Serif"/>
              </a:rPr>
              <a:t>Purpose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3950" y="3874770"/>
            <a:ext cx="32029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52" dirty="0">
                <a:solidFill>
                  <a:srgbClr val="CBD5E1"/>
                </a:solidFill>
                <a:latin typeface="Noto Serif"/>
              </a:rPr>
              <a:t>Tracks return volume and highlights a potential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3950" y="4065270"/>
            <a:ext cx="32156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55">
                <a:solidFill>
                  <a:srgbClr val="CBD5E1"/>
                </a:solidFill>
                <a:latin typeface="Noto Serif"/>
              </a:rPr>
              <a:t>area for reviewing product quality, descriptions,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3950" y="4255770"/>
            <a:ext cx="24307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8">
                <a:solidFill>
                  <a:srgbClr val="CBD5E1"/>
                </a:solidFill>
                <a:latin typeface="Noto Serif"/>
              </a:rPr>
              <a:t>delivery or customer expectations.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600" y="4908550"/>
            <a:ext cx="15494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3">
                <a:solidFill>
                  <a:srgbClr val="64748B"/>
                </a:solidFill>
                <a:latin typeface="Noto Serif"/>
              </a:rPr>
              <a:t>06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955" y="2175305"/>
            <a:ext cx="14503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64" dirty="0">
                <a:solidFill>
                  <a:srgbClr val="94A3B8"/>
                </a:solidFill>
                <a:latin typeface="Noto Serif"/>
              </a:rPr>
              <a:t>TOTAL CUSTOMERS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3950" y="2255520"/>
            <a:ext cx="14579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-63">
                <a:solidFill>
                  <a:srgbClr val="94A3B8"/>
                </a:solidFill>
                <a:latin typeface="Noto Serif"/>
              </a:rPr>
              <a:t>RETURNED ORDERS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" y="1092200"/>
            <a:ext cx="8413750" cy="774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1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50" y="1092200"/>
            <a:ext cx="4298950" cy="3384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" y="996950"/>
            <a:ext cx="4489450" cy="3575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800" y="1092200"/>
            <a:ext cx="4070350" cy="3384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550" y="996950"/>
            <a:ext cx="4260850" cy="3575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" y="421640"/>
            <a:ext cx="21717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74">
                <a:solidFill>
                  <a:srgbClr val="14B8A6"/>
                </a:solidFill>
                <a:latin typeface="Noto Serif"/>
              </a:rPr>
              <a:t>06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3380"/>
            <a:ext cx="3415029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70">
                <a:solidFill>
                  <a:srgbClr val="FFFFFF"/>
                </a:solidFill>
                <a:latin typeface="Noto Serif"/>
              </a:rPr>
              <a:t>Charts — Trend &amp; Region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" y="762000"/>
            <a:ext cx="3732529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42">
                <a:solidFill>
                  <a:srgbClr val="94A3B8"/>
                </a:solidFill>
                <a:latin typeface="Noto Serif"/>
              </a:rPr>
              <a:t>Overall performance and geographic contribution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3524250"/>
            <a:ext cx="258699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43">
                <a:solidFill>
                  <a:srgbClr val="FFFFFF"/>
                </a:solidFill>
                <a:latin typeface="Noto Serif"/>
              </a:rPr>
              <a:t>Monthly Revenue &amp; Profit Trend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" y="3891279"/>
            <a:ext cx="365760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5">
                <a:solidFill>
                  <a:srgbClr val="94A3B8"/>
                </a:solidFill>
                <a:latin typeface="Noto Serif"/>
              </a:rPr>
              <a:t>Are sales and profits improving over time? Read the month-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" y="4062729"/>
            <a:ext cx="349757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19">
                <a:solidFill>
                  <a:srgbClr val="94A3B8"/>
                </a:solidFill>
                <a:latin typeface="Noto Serif"/>
              </a:rPr>
              <a:t>to-month lines for growth, dips and seasonal patterns.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3950" y="3524250"/>
            <a:ext cx="263144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31">
                <a:solidFill>
                  <a:srgbClr val="FFFFFF"/>
                </a:solidFill>
                <a:latin typeface="Noto Serif"/>
              </a:rPr>
              <a:t>Revenue Contribution by Region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3950" y="3891279"/>
            <a:ext cx="328422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4">
                <a:solidFill>
                  <a:srgbClr val="94A3B8"/>
                </a:solidFill>
                <a:latin typeface="Noto Serif"/>
              </a:rPr>
              <a:t>Which regions contribute most to revenue? Compare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3950" y="4062729"/>
            <a:ext cx="303149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12">
                <a:solidFill>
                  <a:srgbClr val="94A3B8"/>
                </a:solidFill>
                <a:latin typeface="Noto Serif"/>
              </a:rPr>
              <a:t>segments to see where sales are concentrated.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0600" y="4908550"/>
            <a:ext cx="15367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6">
                <a:solidFill>
                  <a:srgbClr val="64748B"/>
                </a:solidFill>
                <a:latin typeface="Noto Serif"/>
              </a:rPr>
              <a:t>07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57" y="1197303"/>
            <a:ext cx="4070613" cy="212214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56" y="1092200"/>
            <a:ext cx="3959514" cy="22272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50" y="1092200"/>
            <a:ext cx="4298950" cy="3384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" y="996950"/>
            <a:ext cx="4489450" cy="3575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800" y="1092200"/>
            <a:ext cx="4070350" cy="3384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550" y="996950"/>
            <a:ext cx="4260850" cy="3575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" y="421640"/>
            <a:ext cx="21970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7">
                <a:solidFill>
                  <a:srgbClr val="14B8A6"/>
                </a:solidFill>
                <a:latin typeface="Noto Serif"/>
              </a:rPr>
              <a:t>07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3380"/>
            <a:ext cx="5896609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30">
                <a:solidFill>
                  <a:srgbClr val="FFFFFF"/>
                </a:solidFill>
                <a:latin typeface="Noto Serif"/>
              </a:rPr>
              <a:t>Charts — Product Categories &amp; Campaigns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" y="762000"/>
            <a:ext cx="353949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8">
                <a:solidFill>
                  <a:srgbClr val="94A3B8"/>
                </a:solidFill>
                <a:latin typeface="Noto Serif"/>
              </a:rPr>
              <a:t>Compare profitability and marketing efficiency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3524250"/>
            <a:ext cx="244094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29">
                <a:solidFill>
                  <a:srgbClr val="FFFFFF"/>
                </a:solidFill>
                <a:latin typeface="Noto Serif"/>
              </a:rPr>
              <a:t>Revenue vs Profit by Category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" y="3891279"/>
            <a:ext cx="368172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1">
                <a:solidFill>
                  <a:srgbClr val="94A3B8"/>
                </a:solidFill>
                <a:latin typeface="Noto Serif"/>
              </a:rPr>
              <a:t>Electronics leads in revenue. High revenue does not always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" y="4062729"/>
            <a:ext cx="342011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26">
                <a:solidFill>
                  <a:srgbClr val="94A3B8"/>
                </a:solidFill>
                <a:latin typeface="Noto Serif"/>
              </a:rPr>
              <a:t>mean the highest profit margin— compare both bars.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3950" y="3524250"/>
            <a:ext cx="3497579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18">
                <a:solidFill>
                  <a:srgbClr val="FFFFFF"/>
                </a:solidFill>
                <a:latin typeface="Noto Serif"/>
              </a:rPr>
              <a:t>Marketing Spend vs Revenue by Campaign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3950" y="3806190"/>
            <a:ext cx="339852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4">
                <a:solidFill>
                  <a:srgbClr val="94A3B8"/>
                </a:solidFill>
                <a:latin typeface="Noto Serif"/>
              </a:rPr>
              <a:t>Compare revenue, spend and ROAS. Organic may have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3950" y="3977640"/>
            <a:ext cx="3197859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6">
                <a:solidFill>
                  <a:srgbClr val="94A3B8"/>
                </a:solidFill>
                <a:latin typeface="Noto Serif"/>
              </a:rPr>
              <a:t>zero paid spend—validate definitions before budget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3950" y="4149090"/>
            <a:ext cx="57277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33">
                <a:solidFill>
                  <a:srgbClr val="94A3B8"/>
                </a:solidFill>
                <a:latin typeface="Noto Serif"/>
              </a:rPr>
              <a:t>changes.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0600" y="4908550"/>
            <a:ext cx="15494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3">
                <a:solidFill>
                  <a:srgbClr val="64748B"/>
                </a:solidFill>
                <a:latin typeface="Noto Serif"/>
              </a:rPr>
              <a:t>08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1" y="1092199"/>
            <a:ext cx="4133543" cy="235966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220" y="1092200"/>
            <a:ext cx="3957320" cy="2354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50" y="1092200"/>
            <a:ext cx="4298950" cy="3384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00" y="996950"/>
            <a:ext cx="4489450" cy="3575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800" y="1092200"/>
            <a:ext cx="4070350" cy="3384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550" y="996950"/>
            <a:ext cx="4260850" cy="3575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" y="421640"/>
            <a:ext cx="22097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4">
                <a:solidFill>
                  <a:srgbClr val="14B8A6"/>
                </a:solidFill>
                <a:latin typeface="Noto Serif"/>
              </a:rPr>
              <a:t>08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3380"/>
            <a:ext cx="483235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53">
                <a:solidFill>
                  <a:srgbClr val="FFFFFF"/>
                </a:solidFill>
                <a:latin typeface="Noto Serif"/>
              </a:rPr>
              <a:t>Charts — Customers &amp; Product Mix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" y="762000"/>
            <a:ext cx="315722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4">
                <a:solidFill>
                  <a:srgbClr val="94A3B8"/>
                </a:solidFill>
                <a:latin typeface="Noto Serif"/>
              </a:rPr>
              <a:t>Who buys and which products drive sales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3524250"/>
            <a:ext cx="256286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18">
                <a:solidFill>
                  <a:srgbClr val="FFFFFF"/>
                </a:solidFill>
                <a:latin typeface="Noto Serif"/>
              </a:rPr>
              <a:t>Revenue by Customer Segment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" y="3891279"/>
            <a:ext cx="367157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32">
                <a:solidFill>
                  <a:srgbClr val="94A3B8"/>
                </a:solidFill>
                <a:latin typeface="Noto Serif"/>
              </a:rPr>
              <a:t>Returning customers lead. This suggests repeat buyers are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" y="4062729"/>
            <a:ext cx="364617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36">
                <a:solidFill>
                  <a:srgbClr val="94A3B8"/>
                </a:solidFill>
                <a:latin typeface="Noto Serif"/>
              </a:rPr>
              <a:t>an important revenue group— consider loyalty initiatives.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3950" y="3524250"/>
            <a:ext cx="2411729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b="1" spc="-26">
                <a:solidFill>
                  <a:srgbClr val="FFFFFF"/>
                </a:solidFill>
                <a:latin typeface="Noto Serif"/>
              </a:rPr>
              <a:t>Revenue by Product Category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3950" y="3891279"/>
            <a:ext cx="344805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41">
                <a:solidFill>
                  <a:srgbClr val="94A3B8"/>
                </a:solidFill>
                <a:latin typeface="Noto Serif"/>
              </a:rPr>
              <a:t>Electronics is the largest contributor, followed by Home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3950" y="4062729"/>
            <a:ext cx="280670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spc="-30">
                <a:solidFill>
                  <a:srgbClr val="94A3B8"/>
                </a:solidFill>
                <a:latin typeface="Noto Serif"/>
              </a:rPr>
              <a:t>&amp; Kitchen. Rectangle size = relative revenue.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0600" y="4908550"/>
            <a:ext cx="15494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53">
                <a:solidFill>
                  <a:srgbClr val="64748B"/>
                </a:solidFill>
                <a:latin typeface="Noto Serif"/>
              </a:rPr>
              <a:t>09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1" y="1158241"/>
            <a:ext cx="4033520" cy="221360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942" y="1158241"/>
            <a:ext cx="3804853" cy="22136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70" y="247650"/>
            <a:ext cx="8421370" cy="8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1143000"/>
            <a:ext cx="8420100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" y="1047750"/>
            <a:ext cx="86106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0" y="1371600"/>
            <a:ext cx="6477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1276350"/>
            <a:ext cx="838200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2190750"/>
            <a:ext cx="8420100" cy="952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" y="2095500"/>
            <a:ext cx="8610600" cy="1143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0" y="2419350"/>
            <a:ext cx="647700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2324100"/>
            <a:ext cx="838200" cy="685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3238500"/>
            <a:ext cx="8420100" cy="952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" y="3143250"/>
            <a:ext cx="8610600" cy="1143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0" y="3467100"/>
            <a:ext cx="647700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3371850"/>
            <a:ext cx="838200" cy="685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1950" y="421640"/>
            <a:ext cx="22097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4">
                <a:solidFill>
                  <a:srgbClr val="14B8A6"/>
                </a:solidFill>
                <a:latin typeface="Noto Serif"/>
              </a:rPr>
              <a:t>09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373380"/>
            <a:ext cx="417449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b="1" spc="-39">
                <a:solidFill>
                  <a:srgbClr val="FFFFFF"/>
                </a:solidFill>
                <a:latin typeface="Noto Serif"/>
              </a:rPr>
              <a:t>Conclusion &amp; business actions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" y="762000"/>
            <a:ext cx="393954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35">
                <a:solidFill>
                  <a:srgbClr val="94A3B8"/>
                </a:solidFill>
                <a:latin typeface="Noto Serif"/>
              </a:rPr>
              <a:t>Turning dashboard findings into practical next steps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1376680"/>
            <a:ext cx="2392679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spc="-21">
                <a:solidFill>
                  <a:srgbClr val="FFFFFF"/>
                </a:solidFill>
                <a:latin typeface="Noto Serif"/>
              </a:rPr>
              <a:t>Protect strong categories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740" y="1536700"/>
            <a:ext cx="21970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7">
                <a:solidFill>
                  <a:srgbClr val="14B8A6"/>
                </a:solidFill>
                <a:latin typeface="Noto Serif"/>
              </a:rPr>
              <a:t>01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1638300"/>
            <a:ext cx="630047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60">
                <a:solidFill>
                  <a:srgbClr val="94A3B8"/>
                </a:solidFill>
                <a:latin typeface="Noto Serif"/>
              </a:rPr>
              <a:t>Maintain availability and customer experience for Electronics; monitor profitability, not 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80" y="5080"/>
          <a:ext cx="40640" cy="5133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33340">
                <a:tc>
                  <a:txBody>
                    <a:bodyPr/>
                    <a:lstStyle/>
                    <a:p>
                      <a:pPr>
                        <a:lnSpc>
                          <a:spcPts val="40420"/>
                        </a:lnSpc>
                      </a:pPr>
                      <a:endParaRPr/>
                    </a:p>
                  </a:txBody>
                  <a:tcPr marL="0" marR="0" marT="0" marB="0">
                    <a:lnL w="2540" cap="flat" cmpd="sng" algn="ctr">
                      <a:solidFill>
                        <a:srgbClr val="14B8A6">
                          <a:alpha val="100000"/>
                        </a:srgbClr>
                      </a:solidFill>
                    </a:lnL>
                    <a:lnR w="16510" cap="flat" cmpd="sng" algn="ctr">
                      <a:solidFill>
                        <a:srgbClr val="14B8A6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61950" y="4908550"/>
            <a:ext cx="330581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7">
                <a:solidFill>
                  <a:srgbClr val="64748B"/>
                </a:solidFill>
                <a:latin typeface="Noto Serif"/>
              </a:rPr>
              <a:t>IBM Day · Power BI Dashboard · E-Commerce Analytics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960" y="3641090"/>
            <a:ext cx="21844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70">
                <a:solidFill>
                  <a:srgbClr val="14B8A6"/>
                </a:solidFill>
                <a:latin typeface="Noto Serif"/>
              </a:rPr>
              <a:t>03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2593340"/>
            <a:ext cx="219709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spc="-67">
                <a:solidFill>
                  <a:srgbClr val="14B8A6"/>
                </a:solidFill>
                <a:latin typeface="Noto Serif"/>
              </a:rPr>
              <a:t>02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424430"/>
            <a:ext cx="1653539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spc="-36">
                <a:solidFill>
                  <a:srgbClr val="FFFFFF"/>
                </a:solidFill>
                <a:latin typeface="Noto Serif"/>
              </a:rPr>
              <a:t>Retain customers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696210"/>
            <a:ext cx="639445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46">
                <a:solidFill>
                  <a:srgbClr val="94A3B8"/>
                </a:solidFill>
                <a:latin typeface="Noto Serif"/>
              </a:rPr>
              <a:t>Returning customers lead the segment chart. Explore loyalty offers and reasons behind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905760"/>
            <a:ext cx="141351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44">
                <a:solidFill>
                  <a:srgbClr val="94A3B8"/>
                </a:solidFill>
                <a:latin typeface="Noto Serif"/>
              </a:rPr>
              <a:t>repeat purchasing.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481070"/>
            <a:ext cx="210439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spc="-43">
                <a:solidFill>
                  <a:srgbClr val="FFFFFF"/>
                </a:solidFill>
                <a:latin typeface="Noto Serif"/>
              </a:rPr>
              <a:t>Review marketing ROI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848100"/>
            <a:ext cx="647319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25">
                <a:solidFill>
                  <a:srgbClr val="94A3B8"/>
                </a:solidFill>
                <a:latin typeface="Noto Serif"/>
              </a:rPr>
              <a:t>Validate spend and ROAS, then compare paid campaigns using consistent definitions.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8700" y="4908550"/>
            <a:ext cx="110490" cy="127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000" spc="-170">
                <a:solidFill>
                  <a:srgbClr val="64748B"/>
                </a:solidFill>
                <a:latin typeface="Noto Serif"/>
              </a:rPr>
              <a:t>10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1847850"/>
            <a:ext cx="1099820" cy="165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300" spc="-59">
                <a:solidFill>
                  <a:srgbClr val="94A3B8"/>
                </a:solidFill>
                <a:latin typeface="Noto Serif"/>
              </a:rPr>
              <a:t>revenue alone.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" y="247650"/>
            <a:ext cx="8411210" cy="8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0" y="0"/>
            <a:ext cx="2940050" cy="3390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700" y="0"/>
            <a:ext cx="3035300" cy="3486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7540" y="1723389"/>
            <a:ext cx="2668270" cy="533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200" b="1" spc="-252">
                <a:solidFill>
                  <a:srgbClr val="FFFFFF"/>
                </a:solidFill>
                <a:latin typeface="Noto Serif"/>
              </a:rPr>
              <a:t>Thank you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540" y="2401570"/>
            <a:ext cx="1432560" cy="279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200" spc="-69">
                <a:solidFill>
                  <a:srgbClr val="5EEAD4"/>
                </a:solidFill>
                <a:latin typeface="Noto Serif"/>
              </a:rPr>
              <a:t>Questions?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540" y="3346450"/>
            <a:ext cx="661035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57">
                <a:solidFill>
                  <a:srgbClr val="94A3B8"/>
                </a:solidFill>
                <a:latin typeface="Noto Serif"/>
              </a:rPr>
              <a:t>The Power BI dashboard brings financial, customer, product, regional and campaign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540" y="3564890"/>
            <a:ext cx="181356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37">
                <a:solidFill>
                  <a:srgbClr val="94A3B8"/>
                </a:solidFill>
                <a:latin typeface="Noto Serif"/>
              </a:rPr>
              <a:t>metrics into one view.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540" y="3784600"/>
            <a:ext cx="615823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spc="-34">
                <a:solidFill>
                  <a:srgbClr val="94A3B8"/>
                </a:solidFill>
                <a:latin typeface="Noto Serif"/>
              </a:rPr>
              <a:t>It helps decision-makers ask better questions and prioritise further analysis.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540" y="4770120"/>
            <a:ext cx="52641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">
                <a:solidFill>
                  <a:srgbClr val="64748B"/>
                </a:solidFill>
                <a:latin typeface="Noto Serif"/>
              </a:rPr>
              <a:t>IBM Day · Simulated e-commerce dataset · Assigned by Shubham Pathak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0" y="2999740"/>
            <a:ext cx="2286000" cy="2032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0" y="2999740"/>
            <a:ext cx="2286000" cy="203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0" y="3027680"/>
            <a:ext cx="2286000" cy="19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" y="3009900"/>
            <a:ext cx="2286000" cy="2793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40" y="3009900"/>
            <a:ext cx="2286000" cy="2793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0" y="3027680"/>
            <a:ext cx="2286000" cy="19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856</Words>
  <Application>Microsoft Office PowerPoint</Application>
  <PresentationFormat>On-screen Show (16:9)</PresentationFormat>
  <Paragraphs>184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Guest1</dc:creator>
  <cp:keywords/>
  <dc:description>generated using python-pptx</dc:description>
  <cp:lastModifiedBy>Guest1</cp:lastModifiedBy>
  <cp:revision>9</cp:revision>
  <dcterms:created xsi:type="dcterms:W3CDTF">2013-01-27T09:14:16Z</dcterms:created>
  <dcterms:modified xsi:type="dcterms:W3CDTF">2026-10-13T07:01:09Z</dcterms:modified>
  <cp:category/>
</cp:coreProperties>
</file>